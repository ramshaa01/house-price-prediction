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B9F5"/>
                </a:solidFill>
              </a:defRPr>
            </a:pPr>
            <a:r>
              <a:t>MINI PROJECT REPORT OF INTERNSHIP • 2026-27</a:t>
            </a:r>
          </a:p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</a:defRPr>
            </a:pPr>
            <a:r>
              <a:t>Ames House Price Prediction System</a:t>
            </a:r>
          </a:p>
          <a:p>
            <a:pPr>
              <a:spcAft>
                <a:spcPts val="4000"/>
              </a:spcAft>
              <a:defRPr sz="1800">
                <a:solidFill>
                  <a:srgbClr val="D2E1F5"/>
                </a:solidFill>
              </a:defRPr>
            </a:pPr>
            <a:r>
              <a:t>An End-to-End Supervised Machine Learning Pipeline &amp; Interactive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828800"/>
          </a:xfrm>
          <a:prstGeom prst="roundRect">
            <a:avLst/>
          </a:prstGeom>
          <a:solidFill>
            <a:srgbClr val="19305C"/>
          </a:solidFill>
          <a:ln>
            <a:solidFill>
              <a:srgbClr val="32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Presented By: Ramsha Fatima  |  Roll No: 2300101530112</a:t>
            </a:r>
          </a:p>
          <a:p>
            <a:pPr>
              <a:defRPr sz="1300">
                <a:solidFill>
                  <a:srgbClr val="C8D7EB"/>
                </a:solidFill>
              </a:defRPr>
            </a:pPr>
            <a:r>
              <a:t>Under the Supervision of: Mr. Arpit Dubey, Assistant Professor</a:t>
            </a:r>
          </a:p>
          <a:p>
            <a:pPr>
              <a:defRPr sz="1200">
                <a:solidFill>
                  <a:srgbClr val="AAC3E1"/>
                </a:solidFill>
              </a:defRPr>
            </a:pPr>
            <a:r>
              <a:t>Department of Computer Science and Engineering, United College of Engineering &amp; Research, Prayagraj</a:t>
            </a:r>
          </a:p>
          <a:p>
            <a:pPr>
              <a:defRPr sz="1100">
                <a:solidFill>
                  <a:srgbClr val="96B4D7"/>
                </a:solidFill>
              </a:defRPr>
            </a:pPr>
            <a:r>
              <a:t>Affiliated to Dr. A.P.J. Abdul Kalam Technical University, Lucknow | Organization: Innovation &amp; Incubation Hub Foundation, MNNIT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1: 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The Real Estate Valuation Challenge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Price Opacity: </a:t>
            </a:r>
            <a:r>
              <a:rPr b="0">
                <a:solidFill>
                  <a:srgbClr val="141E2D"/>
                </a:solidFill>
              </a:rPr>
              <a:t>Property evaluations traditionally rely on manual heuristics and personal appraisal bias.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Market Inefficiencies: </a:t>
            </a:r>
            <a:r>
              <a:rPr b="0">
                <a:solidFill>
                  <a:srgbClr val="141E2D"/>
                </a:solidFill>
              </a:rPr>
              <a:t>Sellers, buyers, and mortgage lenders face substantial price variance for structurally comparable properties.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Non-Linear Dynamics: </a:t>
            </a:r>
            <a:r>
              <a:rPr b="0">
                <a:solidFill>
                  <a:srgbClr val="141E2D"/>
                </a:solidFill>
              </a:rPr>
              <a:t>Valuations are driven by complex multi-feature interactions (area, age, location, and finish).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The Need: </a:t>
            </a:r>
            <a:r>
              <a:rPr b="0">
                <a:solidFill>
                  <a:srgbClr val="141E2D"/>
                </a:solidFill>
              </a:rPr>
              <a:t>An automated, transparent, machine learning-driven pricing engine with empirical confidence bounds.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Project Mandate &amp; Objectives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End-to-End ML Lifecycle: </a:t>
            </a:r>
            <a:r>
              <a:rPr b="0">
                <a:solidFill>
                  <a:srgbClr val="141E2D"/>
                </a:solidFill>
              </a:rPr>
              <a:t>Strict adherence to all 8 phases of data science and machine learning development.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Ames Benchmark Dataset: </a:t>
            </a:r>
            <a:r>
              <a:rPr b="0">
                <a:solidFill>
                  <a:srgbClr val="141E2D"/>
                </a:solidFill>
              </a:rPr>
              <a:t>Comprehensive analysis of 1,460 residential properties across 81 structural attributes.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Target Accuracy Metric: </a:t>
            </a:r>
            <a:r>
              <a:rPr b="0">
                <a:solidFill>
                  <a:srgbClr val="141E2D"/>
                </a:solidFill>
              </a:rPr>
              <a:t>Exceed an R² score of 0.85 on held-out test data on the genuine dollar scale.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Multi-Model Benchmarking: </a:t>
            </a:r>
            <a:r>
              <a:rPr b="0">
                <a:solidFill>
                  <a:srgbClr val="141E2D"/>
                </a:solidFill>
              </a:rPr>
              <a:t>Evaluate Ridge, Decision Trees, Random Forest, and XGBoost using 5-Fold Cross Validation.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• Interactive Deployment: </a:t>
            </a:r>
            <a:r>
              <a:rPr b="0">
                <a:solidFill>
                  <a:srgbClr val="141E2D"/>
                </a:solidFill>
              </a:rPr>
              <a:t>Deploy a responsive web app on Streamlit Cloud with real-time 'What-If' counterfactual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2: Tools &amp; Technology Stack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Python 3.11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CORE LANGUAGE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High-performance tabular processing &amp; model execution runtime.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Pandas &amp; NumPy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DATA MANIPULATION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Matrix vectorized calculations, tabular restructuring &amp; log1p transforms.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Scikit-Learn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MACHINE LEARNING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Pipeline, ColumnTransformer, StandardScaler, Ridge &amp; Random Forest.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XGBoost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GRADIENT BOOSTING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Extreme gradient boosted regression trees for non-linear residual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1752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Matplotlib &amp; Seaborn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VISUALIZATION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Publication-ready statistical plots, correlation heatmaps, residual diagnostics.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1752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Joblib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SERIALIZATION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Zero-overhead binary persistence of trained models and scaling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Streamlit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APP FRAMEWORK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Reactive Python-native web application with dynamic state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66344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Git &amp; GitHub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VERSION CONTROL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Public open-source repository management with automated CI/CD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663440"/>
            <a:ext cx="3383280" cy="14630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Streamlit Cloud</a:t>
            </a:r>
          </a:p>
          <a:p>
            <a:pPr>
              <a:defRPr sz="900" b="1">
                <a:solidFill>
                  <a:srgbClr val="1E5AB4"/>
                </a:solidFill>
              </a:defRPr>
            </a:pPr>
            <a:r>
              <a:t>CLOUD DEPLOYMENT</a:t>
            </a:r>
          </a:p>
          <a:p>
            <a:pPr>
              <a:defRPr sz="1000">
                <a:solidFill>
                  <a:srgbClr val="141E2D"/>
                </a:solidFill>
              </a:defRPr>
            </a:pPr>
            <a:r>
              <a:t>PaaS containerized microservice serving predictions globally 24/7.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3: System Functionality &amp; Live Application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72000" cy="51206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2043"/>
                </a:solidFill>
              </a:defRPr>
            </a:pPr>
            <a:r>
              <a:t>Interactive Web Capabilities</a:t>
            </a:r>
          </a:p>
          <a:p>
            <a:pPr>
              <a:spcAft>
                <a:spcPts val="800"/>
              </a:spcAft>
              <a:defRPr b="1" sz="1200">
                <a:solidFill>
                  <a:srgbClr val="1E5AB4"/>
                </a:solidFill>
              </a:defRPr>
            </a:pPr>
            <a:r>
              <a:t>• Real-Time Input Panel: </a:t>
            </a:r>
            <a:r>
              <a:rPr b="0">
                <a:solidFill>
                  <a:srgbClr val="141E2D"/>
                </a:solidFill>
              </a:rPr>
              <a:t>Dynamic sliders for living area, basement sq ft, construction year, room counts, and neighborhood.</a:t>
            </a:r>
          </a:p>
          <a:p>
            <a:pPr>
              <a:spcAft>
                <a:spcPts val="800"/>
              </a:spcAft>
              <a:defRPr b="1" sz="1200">
                <a:solidFill>
                  <a:srgbClr val="1E5AB4"/>
                </a:solidFill>
              </a:defRPr>
            </a:pPr>
            <a:r>
              <a:t>• Instant Fair Valuation: </a:t>
            </a:r>
            <a:r>
              <a:rPr b="0">
                <a:solidFill>
                  <a:srgbClr val="141E2D"/>
                </a:solidFill>
              </a:rPr>
              <a:t>Point prediction plus empirical confidence range (± 1 MAE: $16,280).</a:t>
            </a:r>
          </a:p>
          <a:p>
            <a:pPr>
              <a:spcAft>
                <a:spcPts val="800"/>
              </a:spcAft>
              <a:defRPr b="1" sz="1200">
                <a:solidFill>
                  <a:srgbClr val="1E5AB4"/>
                </a:solidFill>
              </a:defRPr>
            </a:pPr>
            <a:r>
              <a:t>• What-If Scenario Analyzer: </a:t>
            </a:r>
            <a:r>
              <a:rPr b="0">
                <a:solidFill>
                  <a:srgbClr val="141E2D"/>
                </a:solidFill>
              </a:rPr>
              <a:t>Instant financial ROI feedback for adding a bedroom (+200 sq ft) or completing a full remodel.</a:t>
            </a:r>
          </a:p>
          <a:p>
            <a:pPr>
              <a:spcAft>
                <a:spcPts val="800"/>
              </a:spcAft>
              <a:defRPr b="1" sz="1200">
                <a:solidFill>
                  <a:srgbClr val="1E5AB4"/>
                </a:solidFill>
              </a:defRPr>
            </a:pPr>
            <a:r>
              <a:t>• Embedded EDA Dashboard: </a:t>
            </a:r>
            <a:r>
              <a:rPr b="0">
                <a:solidFill>
                  <a:srgbClr val="141E2D"/>
                </a:solidFill>
              </a:rPr>
              <a:t>Live tabs with market price distribution and correlation heatmaps.</a:t>
            </a:r>
          </a:p>
          <a:p>
            <a:pPr>
              <a:spcAft>
                <a:spcPts val="800"/>
              </a:spcAft>
              <a:defRPr b="1" sz="1200">
                <a:solidFill>
                  <a:srgbClr val="1E5AB4"/>
                </a:solidFill>
              </a:defRPr>
            </a:pPr>
            <a:r>
              <a:t>• Zero-Crash Deployment: </a:t>
            </a:r>
            <a:r>
              <a:rPr b="0">
                <a:solidFill>
                  <a:srgbClr val="141E2D"/>
                </a:solidFill>
              </a:rPr>
              <a:t>Relative pathing via pathlib and pinned dependency tree ensures 100% Linux cloud uptime.</a:t>
            </a:r>
          </a:p>
        </p:txBody>
      </p:sp>
      <p:pic>
        <p:nvPicPr>
          <p:cNvPr id="4" name="Picture 3" descr="streamlit_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80160"/>
            <a:ext cx="5852160" cy="35713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4: End-to-End Machine Learning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1: Problem Definition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Identified residential price opacity; defined supervised continuous regression.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2: Data Collection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Fetched Ames benchmark dataset (1,460 records across 81 structural features).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3: Data Preprocessing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Removed 4 extreme outliers (GrLivArea &gt; 4000); median &amp; mode imputation; log1p transform.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514600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4: Exploratory Data Analysis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Identified strong right-skewness, quality grading separation, and neighborhood price tiers.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5: Feature Engineering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Engineered Property_Age, Total_Living_Area, Total_Bathrooms, and amenity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6: Model Building &amp; Tuning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Trained Ridge, Decision Tree, Random Forest, and XGBoost with 5-Fold Cross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7: Model Evaluation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Benchmarked on held-out 20% test split on genuine USD dollar scale (MAE, RMSE, R²).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983480"/>
            <a:ext cx="51206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E5AB4"/>
                </a:solidFill>
              </a:defRPr>
            </a:pPr>
            <a:r>
              <a:t>Phase 8: Cloud Deployment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Deployed interactive Streamlit app to Streamlit Community Cloud with GitHub CI/CD.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4: Exploratory Data Analysis (EDA) Key Insights</a:t>
            </a:r>
          </a:p>
        </p:txBody>
      </p:sp>
      <p:pic>
        <p:nvPicPr>
          <p:cNvPr id="3" name="Picture 2" descr="price_distribution_before_after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1861457"/>
          </a:xfrm>
          <a:prstGeom prst="rect">
            <a:avLst/>
          </a:prstGeom>
        </p:spPr>
      </p:pic>
      <p:pic>
        <p:nvPicPr>
          <p:cNvPr id="4" name="Picture 3" descr="correlation_heatmap_to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42644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100" b="1">
                <a:solidFill>
                  <a:srgbClr val="A0C8FF"/>
                </a:solidFill>
              </a:defRPr>
            </a:pPr>
            <a:r>
              <a:t>CRITICAL EDA TAKEAWAYS: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Target Log-Transform: Converted skewed $180k median distribution to normal bell curve, stabilizing regression variance.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2. Dominant Correlates: Overall Quality (r = 0.79), Living Area (r = 0.71), Garage Capacity (r = 0.64), and Basement Area (r = 0.61).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5: Feature Engineering &amp; Top Value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937760" cy="512064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t>Domain-Specific Formulations</a:t>
            </a:r>
          </a:p>
          <a:p>
            <a:pPr>
              <a:spcAft>
                <a:spcPts val="800"/>
              </a:spcAft>
              <a:defRPr b="1" sz="1150">
                <a:solidFill>
                  <a:srgbClr val="1E5AB4"/>
                </a:solidFill>
              </a:defRPr>
            </a:pPr>
            <a:r>
              <a:t>• Property_Age = 2010 - YearBuilt</a:t>
            </a:r>
            <a:r>
              <a:rPr b="0">
                <a:solidFill>
                  <a:srgbClr val="141E2D"/>
                </a:solidFill>
              </a:rPr>
              <a:t>
  Quantifies true structural depreciation rather than arbitrary calendar dates.</a:t>
            </a:r>
          </a:p>
          <a:p>
            <a:pPr>
              <a:spcAft>
                <a:spcPts val="800"/>
              </a:spcAft>
              <a:defRPr b="1" sz="1150">
                <a:solidFill>
                  <a:srgbClr val="1E5AB4"/>
                </a:solidFill>
              </a:defRPr>
            </a:pPr>
            <a:r>
              <a:t>• Total_Living_Area = GrLivArea + TotalBsmtSF</a:t>
            </a:r>
            <a:r>
              <a:rPr b="0">
                <a:solidFill>
                  <a:srgbClr val="141E2D"/>
                </a:solidFill>
              </a:rPr>
              <a:t>
  Combines above-ground and subterranean finished square footage for total usable area.</a:t>
            </a:r>
          </a:p>
          <a:p>
            <a:pPr>
              <a:spcAft>
                <a:spcPts val="800"/>
              </a:spcAft>
              <a:defRPr b="1" sz="1150">
                <a:solidFill>
                  <a:srgbClr val="1E5AB4"/>
                </a:solidFill>
              </a:defRPr>
            </a:pPr>
            <a:r>
              <a:t>• Total_Bathrooms = FullBath + 0.5*HalfBath...</a:t>
            </a:r>
            <a:r>
              <a:rPr b="0">
                <a:solidFill>
                  <a:srgbClr val="141E2D"/>
                </a:solidFill>
              </a:rPr>
              <a:t>
  Unified sanitary metric capturing full and half fixtures throughout the house.</a:t>
            </a:r>
          </a:p>
          <a:p>
            <a:pPr>
              <a:spcAft>
                <a:spcPts val="800"/>
              </a:spcAft>
              <a:defRPr b="1" sz="1150">
                <a:solidFill>
                  <a:srgbClr val="1E5AB4"/>
                </a:solidFill>
              </a:defRPr>
            </a:pPr>
            <a:r>
              <a:t>• Has_Pool &amp; Has_Garage</a:t>
            </a:r>
            <a:r>
              <a:rPr b="0">
                <a:solidFill>
                  <a:srgbClr val="141E2D"/>
                </a:solidFill>
              </a:rPr>
              <a:t>
  Binary indicators transforming sparse counts into high-signal boolean flags.</a:t>
            </a:r>
          </a:p>
          <a:p>
            <a:pPr>
              <a:spcAft>
                <a:spcPts val="800"/>
              </a:spcAft>
              <a:defRPr b="1" sz="1150">
                <a:solidFill>
                  <a:srgbClr val="1E5AB4"/>
                </a:solidFill>
              </a:defRPr>
            </a:pPr>
            <a:r>
              <a:t>• Is_Remodeled = (YearRemodAdd &gt; YearBuilt)</a:t>
            </a:r>
            <a:r>
              <a:rPr b="0">
                <a:solidFill>
                  <a:srgbClr val="141E2D"/>
                </a:solidFill>
              </a:rPr>
              <a:t>
  Detects whether modern renovations have offset property age.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6: Model Evaluation &amp; Comparative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MAE ($)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RMSE ($)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R² Score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Adjusted R²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5-Fold CV Mean R²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Ridge Regression (Winner)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$16,280.23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$22,871.54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B4"/>
                          </a:solidFill>
                        </a:defRPr>
                      </a:pPr>
                      <a:r>
                        <a:t>0.9003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0.8863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0.8918 ± 0.015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$15,999.01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$22,919.00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0.8999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0.8858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0.8916 ± 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$17,309.61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$25,384.09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0.8772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0.8599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0.8730 ± 0.027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E2D"/>
                          </a:solidFill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$22,916.82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$32,449.46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0.7994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0.7711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E2D"/>
                          </a:solidFill>
                        </a:defRPr>
                      </a:pPr>
                      <a:r>
                        <a:t>0.7834 ± 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5212080" cy="2084832"/>
          </a:xfrm>
          <a:prstGeom prst="rect">
            <a:avLst/>
          </a:prstGeom>
        </p:spPr>
      </p:pic>
      <p:pic>
        <p:nvPicPr>
          <p:cNvPr id="5" name="Picture 4" descr="residuals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7: Limitations &amp; Environmental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1. Geographic &amp; Demographic Specialization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Trained strictly on Ames, Iowa housing transactions. Market price baselines and architectural styles cannot be directly extrapolated to Indian metropolitan areas without local calibration.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2. Static Sample Boundary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Comprises 1,456 historical residential properties up to 2010. Does not account for post-2010 macroeconomic fluctuations such as inflation surges, interest rate shifts, and real estate market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3. Missing Multi-Modal Features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Does not incorporate unstructured visual imagery (interior quality photos, street appeal) or satellite GIS elevation and zoning data, which human appraisers naturally inspect.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4. Empirical Confidence Limits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The predicted valuation is accompanied by a ± 1 MAE ($16,280) interval; edge cases with extreme bespoke luxury configurations remain subject to higher variance.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A0C3F5"/>
                </a:solidFill>
                <a:latin typeface="Arial"/>
              </a:defRPr>
            </a:pPr>
            <a:r>
              <a:t>CAPSTONE INTERNSHIP PRESENTATION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Chapter 8: Conclusion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Key Project Achievements</a:t>
            </a:r>
          </a:p>
          <a:p>
            <a:pPr>
              <a:spcAft>
                <a:spcPts val="1000"/>
              </a:spcAft>
              <a:defRPr b="1" sz="1300">
                <a:solidFill>
                  <a:srgbClr val="0F783C"/>
                </a:solidFill>
              </a:defRPr>
            </a:pPr>
            <a:r>
              <a:t>✓ Exceeded 85% Benchmark: </a:t>
            </a:r>
            <a:r>
              <a:rPr b="0">
                <a:solidFill>
                  <a:srgbClr val="141E2D"/>
                </a:solidFill>
              </a:rPr>
              <a:t>Ridge achieved 90.03% R² and XGBoost achieved 89.99% R² on the genuine dollar scale.</a:t>
            </a:r>
          </a:p>
          <a:p>
            <a:pPr>
              <a:spcAft>
                <a:spcPts val="1000"/>
              </a:spcAft>
              <a:defRPr b="1" sz="1300">
                <a:solidFill>
                  <a:srgbClr val="0F783C"/>
                </a:solidFill>
              </a:defRPr>
            </a:pPr>
            <a:r>
              <a:t>✓ Validated Generalization: </a:t>
            </a:r>
            <a:r>
              <a:rPr b="0">
                <a:solidFill>
                  <a:srgbClr val="141E2D"/>
                </a:solidFill>
              </a:rPr>
              <a:t>5-Fold Cross Validation confirmed tight standard deviation (± 0.015), ruling out overfitting.</a:t>
            </a:r>
          </a:p>
          <a:p>
            <a:pPr>
              <a:spcAft>
                <a:spcPts val="1000"/>
              </a:spcAft>
              <a:defRPr b="1" sz="1300">
                <a:solidFill>
                  <a:srgbClr val="0F783C"/>
                </a:solidFill>
              </a:defRPr>
            </a:pPr>
            <a:r>
              <a:t>✓ Robust Pipeline Architecture: </a:t>
            </a:r>
            <a:r>
              <a:rPr b="0">
                <a:solidFill>
                  <a:srgbClr val="141E2D"/>
                </a:solidFill>
              </a:rPr>
              <a:t>Sklearn ColumnTransformer prevented data leakage while handling scaling and categorical encoding.</a:t>
            </a:r>
          </a:p>
          <a:p>
            <a:pPr>
              <a:spcAft>
                <a:spcPts val="1000"/>
              </a:spcAft>
              <a:defRPr b="1" sz="1300">
                <a:solidFill>
                  <a:srgbClr val="0F783C"/>
                </a:solidFill>
              </a:defRPr>
            </a:pPr>
            <a:r>
              <a:t>✓ Live Public Deployment: </a:t>
            </a:r>
            <a:r>
              <a:rPr b="0">
                <a:solidFill>
                  <a:srgbClr val="141E2D"/>
                </a:solidFill>
              </a:rPr>
              <a:t>Successfully deployed globally on Streamlit Community Cloud with interactive What-If simulation.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B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Future Technical Roadmap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➔ Indian Market Retraining: </a:t>
            </a:r>
            <a:r>
              <a:rPr b="0">
                <a:solidFill>
                  <a:srgbClr val="141E2D"/>
                </a:solidFill>
              </a:rPr>
              <a:t>Collect Tier-1/Tier-2 Indian city property data (MagicBricks / 99acres) for domestic valuation.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➔ Computer Vision Integration: </a:t>
            </a:r>
            <a:r>
              <a:rPr b="0">
                <a:solidFill>
                  <a:srgbClr val="141E2D"/>
                </a:solidFill>
              </a:rPr>
              <a:t>Use Convolutional Neural Networks (CNNs) / Vision Transformers to grade interior finishes from photos.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➔ Real-Time Financial APIs: </a:t>
            </a:r>
            <a:r>
              <a:rPr b="0">
                <a:solidFill>
                  <a:srgbClr val="141E2D"/>
                </a:solidFill>
              </a:rPr>
              <a:t>Integrate real-time inflation and mortgage rate APIs for dynamic macro adjustments.</a:t>
            </a:r>
          </a:p>
          <a:p>
            <a:pPr>
              <a:spcAft>
                <a:spcPts val="1000"/>
              </a:spcAft>
              <a:defRPr b="1" sz="1300">
                <a:solidFill>
                  <a:srgbClr val="1E5AB4"/>
                </a:solidFill>
              </a:defRPr>
            </a:pPr>
            <a:r>
              <a:t>➔ RESTful Microservice: </a:t>
            </a:r>
            <a:r>
              <a:rPr b="0">
                <a:solidFill>
                  <a:srgbClr val="141E2D"/>
                </a:solidFill>
              </a:rPr>
              <a:t>Wrap pipeline in FastAPI / Docker for seamless integration into real estate listing portals.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defRPr sz="3600" b="1">
                <a:solidFill>
                  <a:srgbClr val="FFFFFF"/>
                </a:solidFill>
              </a:defRPr>
            </a:pPr>
            <a:r>
              <a:t>Project Demonstration &amp; Code Access</a:t>
            </a:r>
          </a:p>
          <a:p>
            <a:pPr>
              <a:defRPr sz="1600" b="1">
                <a:solidFill>
                  <a:srgbClr val="8CC3FF"/>
                </a:solidFill>
              </a:defRPr>
            </a:pPr>
            <a:r>
              <a:t>Live Interactive Web Application: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https://house-price-prediction-ami5hudzy5cov9xj97dknk.streamlit.app/</a:t>
            </a:r>
          </a:p>
          <a:p>
            <a:pPr>
              <a:defRPr sz="1600" b="1">
                <a:solidFill>
                  <a:srgbClr val="8CC3FF"/>
                </a:solidFill>
              </a:defRPr>
            </a:pPr>
            <a:r>
              <a:t>Public GitHub Source Repository: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https://github.com/ramshaa01/house-price-prediction</a:t>
            </a:r>
          </a:p>
          <a:p>
            <a:pPr>
              <a:defRPr sz="1600" b="1">
                <a:solidFill>
                  <a:srgbClr val="8CC3FF"/>
                </a:solidFill>
              </a:defRPr>
            </a:pPr>
            <a:r>
              <a:t>Model Artifacts &amp; Jupyter Notebook: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https://github.com/ramshaa01/house-price-prediction/tree/main/Notebook</a:t>
            </a:r>
          </a:p>
          <a:p>
            <a:pPr>
              <a:defRPr sz="1600" b="1">
                <a:solidFill>
                  <a:srgbClr val="8CC3FF"/>
                </a:solidFill>
              </a:defRPr>
            </a:pPr>
            <a:r>
              <a:t>Documentation &amp; Viva Guide: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https://github.com/ramshaa01/house-price-prediction/tree/main/Documentation</a:t>
            </a:r>
          </a:p>
          <a:p>
            <a:pPr>
              <a:defRPr sz="2200" b="1">
                <a:solidFill>
                  <a:srgbClr val="F0F5FF"/>
                </a:solidFill>
              </a:defRPr>
            </a:pPr>
            <a:r>
              <a:t>Thank You! Questions &amp;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